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5" r:id="rId3"/>
    <p:sldId id="256" r:id="rId4"/>
    <p:sldId id="257" r:id="rId5"/>
    <p:sldId id="258" r:id="rId6"/>
    <p:sldId id="259" r:id="rId7"/>
    <p:sldId id="260" r:id="rId8"/>
  </p:sldIdLst>
  <p:sldSz cx="12192000" cy="6858000" type="screen16x9"/>
  <p:notesSz cx="6858000" cy="9144000"/>
  <p:defaultTextStyle>
    <a:defPPr/>
    <a:lvl1pPr marL="0" algn="l"/>
    <a:lvl2pPr marL="0" algn="l"/>
  </p:defaultTextStyle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
</Relationship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/>
      </p:grpSpPr>
    </p:spTree>
  </p:cSld>
  <p:clrMapOvr>
    <a:masterClrMapping/>
  </p:clrMapOvr>
</p:sldLayout>
</file>

<file path=ppt/slideMasters/_rels/slideMaster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spTree>
      <p:nvGrpSpPr>
        <p:cNvPr id="1" name=""/>
        <p:cNvGrpSpPr/>
        <p:nvPr/>
      </p:nvGrpSpPr>
      <p:grpSpPr>
        <a:xfrm/>
      </p:grpSpPr>
    </p:spTree>
  </p:cSld>
  <p:clrMap accent1="1F6F5B" accent2="F2C14E" bg1="FFFFFF" bg2="FAF9F6" tx1="1D2B27" tx2="FFFFFF" hlink="0000FF" folHlink="800080"/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</a:xfrm>
      </p:grpSpPr>
      <p:sp>
        <p:nvSpPr>
          <p:cNvPr id="2" name="Accent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6F5B"/>
          </a:solidFill>
          <a:ln>
            <a:solidFill>
              <a:srgbClr val="1F6F5B"/>
            </a:solidFill>
          </a:ln>
        </p:spPr>
      </p:sp>
      <p:sp>
        <p:nvSpPr>
          <p:cNvPr id="3" name="Eyebrow"/>
          <p:cNvSpPr/>
          <p:nvPr/>
        </p:nvSpPr>
        <p:spPr>
          <a:xfrm>
            <a:off x="762000" y="838200"/>
            <a:ext cx="6858000" cy="2857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600" b="true">
                <a:solidFill>
                  <a:srgbClr val="D9F0E6"/>
                </a:solidFill>
                <a:latin typeface="Arial"/>
              </a:rPr>
              <a:t>CASE STUDY PROJECT</a:t>
            </a:r>
            <a:endParaRPr lang="en-US" sz="1600"/>
          </a:p>
        </p:txBody>
      </p:sp>
      <p:sp>
        <p:nvSpPr>
          <p:cNvPr id="4" name="Title"/>
          <p:cNvSpPr/>
          <p:nvPr/>
        </p:nvSpPr>
        <p:spPr>
          <a:xfrm>
            <a:off x="762000" y="1381125"/>
            <a:ext cx="9239250" cy="14287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4600" b="true">
                <a:solidFill>
                  <a:srgbClr val="FFFFFF"/>
                </a:solidFill>
                <a:latin typeface="Arial"/>
              </a:rPr>
              <a:t>Hybrid Music</a:t>
            </a:r>
            <a:endParaRPr lang="en-US" sz="4600"/>
          </a:p>
          <a:p>
            <a:pPr algn="l"/>
            <a:r>
              <a:rPr lang="en-US" sz="4600" b="true">
                <a:solidFill>
                  <a:srgbClr val="FFFFFF"/>
                </a:solidFill>
                <a:latin typeface="Arial"/>
              </a:rPr>
              <a:t>Recommendation Systems</a:t>
            </a:r>
            <a:endParaRPr lang="en-US" sz="4600"/>
          </a:p>
        </p:txBody>
      </p:sp>
      <p:sp>
        <p:nvSpPr>
          <p:cNvPr id="5" name="Subtitle"/>
          <p:cNvSpPr/>
          <p:nvPr/>
        </p:nvSpPr>
        <p:spPr>
          <a:xfrm>
            <a:off x="800100" y="3238500"/>
            <a:ext cx="7810500" cy="8191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200" b="false">
                <a:solidFill>
                  <a:srgbClr val="EAF6F0"/>
                </a:solidFill>
                <a:latin typeface="Arial"/>
              </a:rPr>
              <a:t>An interactive Streamlit demonstration of content-based, collaborative, and hybrid filtering</a:t>
            </a:r>
            <a:endParaRPr lang="en-US" sz="2200"/>
          </a:p>
        </p:txBody>
      </p:sp>
      <p:sp>
        <p:nvSpPr>
          <p:cNvPr id="6" name="Meta"/>
          <p:cNvSpPr/>
          <p:nvPr/>
        </p:nvSpPr>
        <p:spPr>
          <a:xfrm>
            <a:off x="800100" y="5381625"/>
            <a:ext cx="8572500" cy="4381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600" b="false">
                <a:solidFill>
                  <a:srgbClr val="D9F0E6"/>
                </a:solidFill>
                <a:latin typeface="Arial"/>
              </a:rPr>
              <a:t>Based on the supplied case study report  •  2026</a:t>
            </a:r>
            <a:endParaRPr lang="en-US" sz="1600"/>
          </a:p>
        </p:txBody>
      </p:sp>
      <p:sp>
        <p:nvSpPr>
          <p:cNvPr id="7" name="AccentLine"/>
          <p:cNvSpPr/>
          <p:nvPr/>
        </p:nvSpPr>
        <p:spPr>
          <a:xfrm>
            <a:off x="800100" y="4762500"/>
            <a:ext cx="1619250" cy="76200"/>
          </a:xfrm>
          <a:prstGeom prst="rect">
            <a:avLst/>
          </a:prstGeom>
          <a:solidFill>
            <a:srgbClr val="F2C14E"/>
          </a:solidFill>
          <a:ln>
            <a:solidFill>
              <a:srgbClr val="F2C14E"/>
            </a:solidFill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</a:xfrm>
      </p:grpSpPr>
      <p:sp>
        <p:nvSpPr>
          <p:cNvPr id="10" name="Kicker"/>
          <p:cNvSpPr/>
          <p:nvPr/>
        </p:nvSpPr>
        <p:spPr>
          <a:xfrm>
            <a:off x="685800" y="381000"/>
            <a:ext cx="4381500" cy="2667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300" b="true">
                <a:solidFill>
                  <a:srgbClr val="1F6F5B"/>
                </a:solidFill>
                <a:latin typeface="Arial"/>
              </a:rPr>
              <a:t>01  CONTEXT</a:t>
            </a:r>
            <a:endParaRPr lang="en-US" sz="1300"/>
          </a:p>
        </p:txBody>
      </p:sp>
      <p:sp>
        <p:nvSpPr>
          <p:cNvPr id="11" name="Title"/>
          <p:cNvSpPr/>
          <p:nvPr/>
        </p:nvSpPr>
        <p:spPr>
          <a:xfrm>
            <a:off x="685800" y="742950"/>
            <a:ext cx="10668000" cy="6477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3400" b="true">
                <a:solidFill>
                  <a:srgbClr val="1D2B27"/>
                </a:solidFill>
                <a:latin typeface="Arial"/>
              </a:rPr>
              <a:t>The recommendation problem</a:t>
            </a:r>
            <a:endParaRPr lang="en-US" sz="3400"/>
          </a:p>
        </p:txBody>
      </p:sp>
      <p:sp>
        <p:nvSpPr>
          <p:cNvPr id="12" name="Rule"/>
          <p:cNvSpPr/>
          <p:nvPr/>
        </p:nvSpPr>
        <p:spPr>
          <a:xfrm>
            <a:off x="685800" y="1524000"/>
            <a:ext cx="10820400" cy="28575"/>
          </a:xfrm>
          <a:prstGeom prst="rect">
            <a:avLst/>
          </a:prstGeom>
          <a:solidFill>
            <a:srgbClr val="1F6F5B"/>
          </a:solidFill>
          <a:ln>
            <a:solidFill>
              <a:srgbClr val="1F6F5B"/>
            </a:solidFill>
          </a:ln>
        </p:spPr>
      </p:sp>
      <p:sp>
        <p:nvSpPr>
          <p:cNvPr id="20" name="Problem"/>
          <p:cNvSpPr/>
          <p:nvPr/>
        </p:nvSpPr>
        <p:spPr>
          <a:xfrm>
            <a:off x="685800" y="1981200"/>
            <a:ext cx="4762500" cy="1476375"/>
          </a:xfrm>
          <a:prstGeom prst="rect">
            <a:avLst/>
          </a:prstGeom>
          <a:solidFill>
            <a:srgbClr val="FFFFFF"/>
          </a:solidFill>
          <a:ln>
            <a:solidFill>
              <a:srgbClr val="D8E5DF"/>
            </a:solidFill>
          </a:ln>
        </p:spPr>
        <p:txBody>
          <a:bodyPr wrap="square"/>
          <a:lstStyle/>
          <a:p>
            <a:pPr algn="l"/>
            <a:r>
              <a:rPr lang="en-US" sz="2300" b="true">
                <a:solidFill>
                  <a:srgbClr val="1D2B27"/>
                </a:solidFill>
                <a:latin typeface="Arial"/>
              </a:rPr>
              <a:t>Millions of tracks</a:t>
            </a:r>
            <a:endParaRPr lang="en-US" sz="2300"/>
          </a:p>
          <a:p>
            <a:pPr algn="l"/>
            <a:r>
              <a:rPr lang="en-US" sz="2300" b="true">
                <a:solidFill>
                  <a:srgbClr val="1D2B27"/>
                </a:solidFill>
                <a:latin typeface="Arial"/>
              </a:rPr>
              <a:t/>
            </a:r>
            <a:endParaRPr lang="en-US" sz="2300"/>
          </a:p>
          <a:p>
            <a:pPr algn="l"/>
            <a:r>
              <a:rPr lang="en-US" sz="2300" b="true">
                <a:solidFill>
                  <a:srgbClr val="1D2B27"/>
                </a:solidFill>
                <a:latin typeface="Arial"/>
              </a:rPr>
              <a:t>A listener has limited time and incomplete knowledge of the catalogue.</a:t>
            </a:r>
            <a:endParaRPr lang="en-US" sz="2300"/>
          </a:p>
        </p:txBody>
      </p:sp>
      <p:sp>
        <p:nvSpPr>
          <p:cNvPr id="21" name="Goal"/>
          <p:cNvSpPr/>
          <p:nvPr/>
        </p:nvSpPr>
        <p:spPr>
          <a:xfrm>
            <a:off x="685800" y="3810000"/>
            <a:ext cx="4762500" cy="1476375"/>
          </a:xfrm>
          <a:prstGeom prst="rect">
            <a:avLst/>
          </a:prstGeom>
          <a:solidFill>
            <a:srgbClr val="EEF7F2"/>
          </a:solidFill>
          <a:ln>
            <a:solidFill>
              <a:srgbClr val="B9DCCB"/>
            </a:solidFill>
          </a:ln>
        </p:spPr>
        <p:txBody>
          <a:bodyPr wrap="square"/>
          <a:lstStyle/>
          <a:p>
            <a:pPr algn="l"/>
            <a:r>
              <a:rPr lang="en-US" sz="2300" b="true">
                <a:solidFill>
                  <a:srgbClr val="1D2B27"/>
                </a:solidFill>
                <a:latin typeface="Arial"/>
              </a:rPr>
              <a:t>The system must rank songs that are likely to satisfy the listener while preserving discovery and diversity.</a:t>
            </a:r>
            <a:endParaRPr lang="en-US" sz="2300"/>
          </a:p>
        </p:txBody>
      </p:sp>
      <p:sp>
        <p:nvSpPr>
          <p:cNvPr id="22" name="Arrow"/>
          <p:cNvSpPr/>
          <p:nvPr/>
        </p:nvSpPr>
        <p:spPr>
          <a:xfrm>
            <a:off x="5905500" y="3028950"/>
            <a:ext cx="666750" cy="666750"/>
          </a:xfrm>
          <a:prstGeom prst="rect">
            <a:avLst/>
          </a:prstGeom>
          <a:solidFill>
            <a:srgbClr val="F2C14E"/>
          </a:solidFill>
          <a:ln>
            <a:solidFill>
              <a:srgbClr val="F2C14E"/>
            </a:solidFill>
          </a:ln>
        </p:spPr>
        <p:txBody>
          <a:bodyPr wrap="square"/>
          <a:lstStyle/>
          <a:p>
            <a:pPr algn="c"/>
            <a:r>
              <a:rPr lang="en-US" sz="3800" b="true">
                <a:solidFill>
                  <a:srgbClr val="1D2B27"/>
                </a:solidFill>
                <a:latin typeface="Arial"/>
              </a:rPr>
              <a:t>→</a:t>
            </a:r>
            <a:endParaRPr lang="en-US" sz="3800"/>
          </a:p>
        </p:txBody>
      </p:sp>
      <p:sp>
        <p:nvSpPr>
          <p:cNvPr id="23" name="Question"/>
          <p:cNvSpPr/>
          <p:nvPr/>
        </p:nvSpPr>
        <p:spPr>
          <a:xfrm>
            <a:off x="7239000" y="2171700"/>
            <a:ext cx="4000500" cy="2286000"/>
          </a:xfrm>
          <a:prstGeom prst="rect">
            <a:avLst/>
          </a:prstGeom>
          <a:solidFill>
            <a:srgbClr val="1D2B27"/>
          </a:solidFill>
          <a:ln>
            <a:solidFill>
              <a:srgbClr val="1D2B27"/>
            </a:solidFill>
          </a:ln>
        </p:spPr>
        <p:txBody>
          <a:bodyPr wrap="square"/>
          <a:lstStyle/>
          <a:p>
            <a:pPr algn="l"/>
            <a:r>
              <a:rPr lang="en-US" sz="2500" b="true">
                <a:solidFill>
                  <a:srgbClr val="FFFFFF"/>
                </a:solidFill>
                <a:latin typeface="Arial"/>
              </a:rPr>
              <a:t>How can track characteristics and listening behaviour be combined to provide relevant, personalised, and diverse recommendations?</a:t>
            </a:r>
            <a:endParaRPr lang="en-US" sz="2500"/>
          </a:p>
        </p:txBody>
      </p:sp>
      <p:sp>
        <p:nvSpPr>
          <p:cNvPr id="24" name="Scope"/>
          <p:cNvSpPr/>
          <p:nvPr/>
        </p:nvSpPr>
        <p:spPr>
          <a:xfrm>
            <a:off x="7239000" y="4857750"/>
            <a:ext cx="4000500" cy="5143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600" b="true">
                <a:solidFill>
                  <a:srgbClr val="1F6F5B"/>
                </a:solidFill>
                <a:latin typeface="Arial"/>
              </a:rPr>
              <a:t>The report is conceptual; the scores are hypothetical.</a:t>
            </a:r>
            <a:endParaRPr lang="en-US"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</a:xfrm>
      </p:grpSpPr>
      <p:sp>
        <p:nvSpPr>
          <p:cNvPr id="30" name="Kicker"/>
          <p:cNvSpPr/>
          <p:nvPr/>
        </p:nvSpPr>
        <p:spPr>
          <a:xfrm>
            <a:off x="685800" y="381000"/>
            <a:ext cx="4381500" cy="2667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300" b="true">
                <a:solidFill>
                  <a:srgbClr val="1F6F5B"/>
                </a:solidFill>
                <a:latin typeface="Arial"/>
              </a:rPr>
              <a:t>02  METHODS</a:t>
            </a:r>
            <a:endParaRPr lang="en-US" sz="1300"/>
          </a:p>
        </p:txBody>
      </p:sp>
      <p:sp>
        <p:nvSpPr>
          <p:cNvPr id="31" name="Title"/>
          <p:cNvSpPr/>
          <p:nvPr/>
        </p:nvSpPr>
        <p:spPr>
          <a:xfrm>
            <a:off x="685800" y="742950"/>
            <a:ext cx="10668000" cy="6477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3400" b="true">
                <a:solidFill>
                  <a:srgbClr val="1D2B27"/>
                </a:solidFill>
                <a:latin typeface="Arial"/>
              </a:rPr>
              <a:t>Three complementary approaches</a:t>
            </a:r>
            <a:endParaRPr lang="en-US" sz="3400"/>
          </a:p>
        </p:txBody>
      </p:sp>
      <p:sp>
        <p:nvSpPr>
          <p:cNvPr id="32" name="Rule"/>
          <p:cNvSpPr/>
          <p:nvPr/>
        </p:nvSpPr>
        <p:spPr>
          <a:xfrm>
            <a:off x="685800" y="1524000"/>
            <a:ext cx="10820400" cy="28575"/>
          </a:xfrm>
          <a:prstGeom prst="rect">
            <a:avLst/>
          </a:prstGeom>
          <a:solidFill>
            <a:srgbClr val="1F6F5B"/>
          </a:solidFill>
          <a:ln>
            <a:solidFill>
              <a:srgbClr val="1F6F5B"/>
            </a:solidFill>
          </a:ln>
        </p:spPr>
      </p:sp>
      <p:sp>
        <p:nvSpPr>
          <p:cNvPr id="40" name="Content"/>
          <p:cNvSpPr/>
          <p:nvPr/>
        </p:nvSpPr>
        <p:spPr>
          <a:xfrm>
            <a:off x="685800" y="2047875"/>
            <a:ext cx="3333750" cy="3048000"/>
          </a:xfrm>
          <a:prstGeom prst="rect">
            <a:avLst/>
          </a:prstGeom>
          <a:solidFill>
            <a:srgbClr val="EAF6F0"/>
          </a:solidFill>
          <a:ln>
            <a:solidFill>
              <a:srgbClr val="B9DCCB"/>
            </a:solidFill>
          </a:ln>
        </p:spPr>
        <p:txBody>
          <a:bodyPr wrap="square"/>
          <a:lstStyle/>
          <a:p>
            <a:pPr algn="l"/>
            <a:r>
              <a:rPr lang="en-US" sz="2000" b="true">
                <a:solidFill>
                  <a:srgbClr val="1D2B27"/>
                </a:solidFill>
                <a:latin typeface="Arial"/>
              </a:rPr>
              <a:t>CONTENT-BASED</a:t>
            </a:r>
            <a:endParaRPr lang="en-US" sz="2000"/>
          </a:p>
          <a:p>
            <a:pPr algn="l"/>
            <a:r>
              <a:rPr lang="en-US" sz="2000" b="true">
                <a:solidFill>
                  <a:srgbClr val="1D2B27"/>
                </a:solidFill>
                <a:latin typeface="Arial"/>
              </a:rPr>
              <a:t/>
            </a:r>
            <a:endParaRPr lang="en-US" sz="2000"/>
          </a:p>
          <a:p>
            <a:pPr algn="l"/>
            <a:r>
              <a:rPr lang="en-US" sz="2000" b="true">
                <a:solidFill>
                  <a:srgbClr val="1D2B27"/>
                </a:solidFill>
                <a:latin typeface="Arial"/>
              </a:rPr>
              <a:t>Recommends tracks whose characteristics resemble items the listener already likes.</a:t>
            </a:r>
            <a:endParaRPr lang="en-US" sz="2000"/>
          </a:p>
          <a:p>
            <a:pPr algn="l"/>
            <a:r>
              <a:rPr lang="en-US" sz="2000" b="true">
                <a:solidFill>
                  <a:srgbClr val="1D2B27"/>
                </a:solidFill>
                <a:latin typeface="Arial"/>
              </a:rPr>
              <a:t/>
            </a:r>
            <a:endParaRPr lang="en-US" sz="2000"/>
          </a:p>
          <a:p>
            <a:pPr algn="l"/>
            <a:r>
              <a:rPr lang="en-US" sz="2000" b="true">
                <a:solidFill>
                  <a:srgbClr val="1D2B27"/>
                </a:solidFill>
                <a:latin typeface="Arial"/>
              </a:rPr>
              <a:t>+ explainable</a:t>
            </a:r>
            <a:endParaRPr lang="en-US" sz="2000"/>
          </a:p>
          <a:p>
            <a:pPr algn="l"/>
            <a:r>
              <a:rPr lang="en-US" sz="2000" b="true">
                <a:solidFill>
                  <a:srgbClr val="1D2B27"/>
                </a:solidFill>
                <a:latin typeface="Arial"/>
              </a:rPr>
              <a:t>− can become repetitive</a:t>
            </a:r>
            <a:endParaRPr lang="en-US" sz="2000"/>
          </a:p>
        </p:txBody>
      </p:sp>
      <p:sp>
        <p:nvSpPr>
          <p:cNvPr id="41" name="Collaborative"/>
          <p:cNvSpPr/>
          <p:nvPr/>
        </p:nvSpPr>
        <p:spPr>
          <a:xfrm>
            <a:off x="4429125" y="2047875"/>
            <a:ext cx="3333750" cy="3048000"/>
          </a:xfrm>
          <a:prstGeom prst="rect">
            <a:avLst/>
          </a:prstGeom>
          <a:solidFill>
            <a:srgbClr val="FFF7E1"/>
          </a:solidFill>
          <a:ln>
            <a:solidFill>
              <a:srgbClr val="F2D68C"/>
            </a:solidFill>
          </a:ln>
        </p:spPr>
        <p:txBody>
          <a:bodyPr wrap="square"/>
          <a:lstStyle/>
          <a:p>
            <a:pPr algn="l"/>
            <a:r>
              <a:rPr lang="en-US" sz="2000" b="true">
                <a:solidFill>
                  <a:srgbClr val="1D2B27"/>
                </a:solidFill>
                <a:latin typeface="Arial"/>
              </a:rPr>
              <a:t>COLLABORATIVE</a:t>
            </a:r>
            <a:endParaRPr lang="en-US" sz="2000"/>
          </a:p>
          <a:p>
            <a:pPr algn="l"/>
            <a:r>
              <a:rPr lang="en-US" sz="2000" b="true">
                <a:solidFill>
                  <a:srgbClr val="1D2B27"/>
                </a:solidFill>
                <a:latin typeface="Arial"/>
              </a:rPr>
              <a:t/>
            </a:r>
            <a:endParaRPr lang="en-US" sz="2000"/>
          </a:p>
          <a:p>
            <a:pPr algn="l"/>
            <a:r>
              <a:rPr lang="en-US" sz="2000" b="true">
                <a:solidFill>
                  <a:srgbClr val="1D2B27"/>
                </a:solidFill>
                <a:latin typeface="Arial"/>
              </a:rPr>
              <a:t>Learns from interactions by listeners with similar behaviour.</a:t>
            </a:r>
            <a:endParaRPr lang="en-US" sz="2000"/>
          </a:p>
          <a:p>
            <a:pPr algn="l"/>
            <a:r>
              <a:rPr lang="en-US" sz="2000" b="true">
                <a:solidFill>
                  <a:srgbClr val="1D2B27"/>
                </a:solidFill>
                <a:latin typeface="Arial"/>
              </a:rPr>
              <a:t/>
            </a:r>
            <a:endParaRPr lang="en-US" sz="2000"/>
          </a:p>
          <a:p>
            <a:pPr algn="l"/>
            <a:r>
              <a:rPr lang="en-US" sz="2000" b="true">
                <a:solidFill>
                  <a:srgbClr val="1D2B27"/>
                </a:solidFill>
                <a:latin typeface="Arial"/>
              </a:rPr>
              <a:t>+ unexpected discovery</a:t>
            </a:r>
            <a:endParaRPr lang="en-US" sz="2000"/>
          </a:p>
          <a:p>
            <a:pPr algn="l"/>
            <a:r>
              <a:rPr lang="en-US" sz="2000" b="true">
                <a:solidFill>
                  <a:srgbClr val="1D2B27"/>
                </a:solidFill>
                <a:latin typeface="Arial"/>
              </a:rPr>
              <a:t>− cold start and sparsity</a:t>
            </a:r>
            <a:endParaRPr lang="en-US" sz="2000"/>
          </a:p>
        </p:txBody>
      </p:sp>
      <p:sp>
        <p:nvSpPr>
          <p:cNvPr id="42" name="Hybrid"/>
          <p:cNvSpPr/>
          <p:nvPr/>
        </p:nvSpPr>
        <p:spPr>
          <a:xfrm>
            <a:off x="8172450" y="2047875"/>
            <a:ext cx="3333750" cy="3048000"/>
          </a:xfrm>
          <a:prstGeom prst="rect">
            <a:avLst/>
          </a:prstGeom>
          <a:solidFill>
            <a:srgbClr val="EAF0FF"/>
          </a:solidFill>
          <a:ln>
            <a:solidFill>
              <a:srgbClr val="B5C6F2"/>
            </a:solidFill>
          </a:ln>
        </p:spPr>
        <p:txBody>
          <a:bodyPr wrap="square"/>
          <a:lstStyle/>
          <a:p>
            <a:pPr algn="l"/>
            <a:r>
              <a:rPr lang="en-US" sz="2000" b="true">
                <a:solidFill>
                  <a:srgbClr val="1D2B27"/>
                </a:solidFill>
                <a:latin typeface="Arial"/>
              </a:rPr>
              <a:t>HYBRID</a:t>
            </a:r>
            <a:endParaRPr lang="en-US" sz="2000"/>
          </a:p>
          <a:p>
            <a:pPr algn="l"/>
            <a:r>
              <a:rPr lang="en-US" sz="2000" b="true">
                <a:solidFill>
                  <a:srgbClr val="1D2B27"/>
                </a:solidFill>
                <a:latin typeface="Arial"/>
              </a:rPr>
              <a:t/>
            </a:r>
            <a:endParaRPr lang="en-US" sz="2000"/>
          </a:p>
          <a:p>
            <a:pPr algn="l"/>
            <a:r>
              <a:rPr lang="en-US" sz="2000" b="true">
                <a:solidFill>
                  <a:srgbClr val="1D2B27"/>
                </a:solidFill>
                <a:latin typeface="Arial"/>
              </a:rPr>
              <a:t>Combines content signals with collaborative patterns, often adapting to data availability.</a:t>
            </a:r>
            <a:endParaRPr lang="en-US" sz="2000"/>
          </a:p>
          <a:p>
            <a:pPr algn="l"/>
            <a:r>
              <a:rPr lang="en-US" sz="2000" b="true">
                <a:solidFill>
                  <a:srgbClr val="1D2B27"/>
                </a:solidFill>
                <a:latin typeface="Arial"/>
              </a:rPr>
              <a:t/>
            </a:r>
            <a:endParaRPr lang="en-US" sz="2000"/>
          </a:p>
          <a:p>
            <a:pPr algn="l"/>
            <a:r>
              <a:rPr lang="en-US" sz="2000" b="true">
                <a:solidFill>
                  <a:srgbClr val="1D2B27"/>
                </a:solidFill>
                <a:latin typeface="Arial"/>
              </a:rPr>
              <a:t>+ balances weaknesses</a:t>
            </a:r>
            <a:endParaRPr lang="en-US" sz="2000"/>
          </a:p>
          <a:p>
            <a:pPr algn="l"/>
            <a:r>
              <a:rPr lang="en-US" sz="2000" b="true">
                <a:solidFill>
                  <a:srgbClr val="1D2B27"/>
                </a:solidFill>
                <a:latin typeface="Arial"/>
              </a:rPr>
              <a:t>− more design choices</a:t>
            </a:r>
            <a:endParaRPr lang="en-US" sz="2000"/>
          </a:p>
        </p:txBody>
      </p:sp>
      <p:sp>
        <p:nvSpPr>
          <p:cNvPr id="43" name="Takeaway"/>
          <p:cNvSpPr/>
          <p:nvPr/>
        </p:nvSpPr>
        <p:spPr>
          <a:xfrm>
            <a:off x="685800" y="5572125"/>
            <a:ext cx="10820400" cy="457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800" b="true">
                <a:solidFill>
                  <a:srgbClr val="1F6F5B"/>
                </a:solidFill>
                <a:latin typeface="Arial"/>
              </a:rPr>
              <a:t>The case study uses hybrid filtering as the implementation direction for a transparent demonstration.</a:t>
            </a:r>
            <a:endParaRPr lang="en-US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</a:xfrm>
      </p:grpSpPr>
      <p:sp>
        <p:nvSpPr>
          <p:cNvPr id="50" name="Kicker"/>
          <p:cNvSpPr/>
          <p:nvPr/>
        </p:nvSpPr>
        <p:spPr>
          <a:xfrm>
            <a:off x="685800" y="381000"/>
            <a:ext cx="4381500" cy="2667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300" b="true">
                <a:solidFill>
                  <a:srgbClr val="1F6F5B"/>
                </a:solidFill>
                <a:latin typeface="Arial"/>
              </a:rPr>
              <a:t>03  SCORE FUSION</a:t>
            </a:r>
            <a:endParaRPr lang="en-US" sz="1300"/>
          </a:p>
        </p:txBody>
      </p:sp>
      <p:sp>
        <p:nvSpPr>
          <p:cNvPr id="51" name="Title"/>
          <p:cNvSpPr/>
          <p:nvPr/>
        </p:nvSpPr>
        <p:spPr>
          <a:xfrm>
            <a:off x="685800" y="742950"/>
            <a:ext cx="10668000" cy="6477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3400" b="true">
                <a:solidFill>
                  <a:srgbClr val="1D2B27"/>
                </a:solidFill>
                <a:latin typeface="Arial"/>
              </a:rPr>
              <a:t>The hybrid score makes the trade-off visible</a:t>
            </a:r>
            <a:endParaRPr lang="en-US" sz="3400"/>
          </a:p>
        </p:txBody>
      </p:sp>
      <p:sp>
        <p:nvSpPr>
          <p:cNvPr id="52" name="Rule"/>
          <p:cNvSpPr/>
          <p:nvPr/>
        </p:nvSpPr>
        <p:spPr>
          <a:xfrm>
            <a:off x="685800" y="1524000"/>
            <a:ext cx="10820400" cy="28575"/>
          </a:xfrm>
          <a:prstGeom prst="rect">
            <a:avLst/>
          </a:prstGeom>
          <a:solidFill>
            <a:srgbClr val="1F6F5B"/>
          </a:solidFill>
          <a:ln>
            <a:solidFill>
              <a:srgbClr val="1F6F5B"/>
            </a:solidFill>
          </a:ln>
        </p:spPr>
      </p:sp>
      <p:sp>
        <p:nvSpPr>
          <p:cNvPr id="60" name="Equation"/>
          <p:cNvSpPr/>
          <p:nvPr/>
        </p:nvSpPr>
        <p:spPr>
          <a:xfrm>
            <a:off x="1047750" y="2047875"/>
            <a:ext cx="10096500" cy="857250"/>
          </a:xfrm>
          <a:prstGeom prst="rect">
            <a:avLst/>
          </a:prstGeom>
          <a:solidFill>
            <a:srgbClr val="1D2B27"/>
          </a:solidFill>
          <a:ln>
            <a:solidFill>
              <a:srgbClr val="1D2B27"/>
            </a:solidFill>
          </a:ln>
        </p:spPr>
        <p:txBody>
          <a:bodyPr wrap="square"/>
          <a:lstStyle/>
          <a:p>
            <a:pPr algn="c"/>
            <a:r>
              <a:rPr lang="en-US" sz="3000" b="true">
                <a:solidFill>
                  <a:srgbClr val="FFFFFF"/>
                </a:solidFill>
                <a:latin typeface="Arial"/>
              </a:rPr>
              <a:t>Hybrid Score = α × Content Score + (1 − α) × Collaborative Score</a:t>
            </a:r>
            <a:endParaRPr lang="en-US" sz="3000"/>
          </a:p>
        </p:txBody>
      </p:sp>
      <p:sp>
        <p:nvSpPr>
          <p:cNvPr id="61" name="Alpha"/>
          <p:cNvSpPr/>
          <p:nvPr/>
        </p:nvSpPr>
        <p:spPr>
          <a:xfrm>
            <a:off x="1143000" y="3333750"/>
            <a:ext cx="2524125" cy="1000125"/>
          </a:xfrm>
          <a:prstGeom prst="rect">
            <a:avLst/>
          </a:prstGeom>
          <a:solidFill>
            <a:srgbClr val="F2C14E"/>
          </a:solidFill>
          <a:ln>
            <a:solidFill>
              <a:srgbClr val="F2C14E"/>
            </a:solidFill>
          </a:ln>
        </p:spPr>
        <p:txBody>
          <a:bodyPr wrap="square"/>
          <a:lstStyle/>
          <a:p>
            <a:pPr algn="c"/>
            <a:r>
              <a:rPr lang="en-US" sz="2400" b="true">
                <a:solidFill>
                  <a:srgbClr val="1D2B27"/>
                </a:solidFill>
                <a:latin typeface="Arial"/>
              </a:rPr>
              <a:t>α = 0.4</a:t>
            </a:r>
            <a:endParaRPr lang="en-US" sz="2400"/>
          </a:p>
          <a:p>
            <a:pPr algn="c"/>
            <a:r>
              <a:rPr lang="en-US" sz="2400" b="true">
                <a:solidFill>
                  <a:srgbClr val="1D2B27"/>
                </a:solidFill>
                <a:latin typeface="Arial"/>
              </a:rPr>
              <a:t>Content 40%</a:t>
            </a:r>
            <a:endParaRPr lang="en-US" sz="2400"/>
          </a:p>
        </p:txBody>
      </p:sp>
      <p:sp>
        <p:nvSpPr>
          <p:cNvPr id="62" name="Collab"/>
          <p:cNvSpPr/>
          <p:nvPr/>
        </p:nvSpPr>
        <p:spPr>
          <a:xfrm>
            <a:off x="4714875" y="3333750"/>
            <a:ext cx="2524125" cy="1000125"/>
          </a:xfrm>
          <a:prstGeom prst="rect">
            <a:avLst/>
          </a:prstGeom>
          <a:solidFill>
            <a:srgbClr val="D9F0E6"/>
          </a:solidFill>
          <a:ln>
            <a:solidFill>
              <a:srgbClr val="B9DCCB"/>
            </a:solidFill>
          </a:ln>
        </p:spPr>
        <p:txBody>
          <a:bodyPr wrap="square"/>
          <a:lstStyle/>
          <a:p>
            <a:pPr algn="c"/>
            <a:r>
              <a:rPr lang="en-US" sz="2400" b="true">
                <a:solidFill>
                  <a:srgbClr val="1D2B27"/>
                </a:solidFill>
                <a:latin typeface="Arial"/>
              </a:rPr>
              <a:t>1 − α = 0.6</a:t>
            </a:r>
            <a:endParaRPr lang="en-US" sz="2400"/>
          </a:p>
          <a:p>
            <a:pPr algn="c"/>
            <a:r>
              <a:rPr lang="en-US" sz="2400" b="true">
                <a:solidFill>
                  <a:srgbClr val="1D2B27"/>
                </a:solidFill>
                <a:latin typeface="Arial"/>
              </a:rPr>
              <a:t>Collaborative 60%</a:t>
            </a:r>
            <a:endParaRPr lang="en-US" sz="2400"/>
          </a:p>
        </p:txBody>
      </p:sp>
      <p:sp>
        <p:nvSpPr>
          <p:cNvPr id="63" name="Result"/>
          <p:cNvSpPr/>
          <p:nvPr/>
        </p:nvSpPr>
        <p:spPr>
          <a:xfrm>
            <a:off x="8286750" y="3333750"/>
            <a:ext cx="2524125" cy="1000125"/>
          </a:xfrm>
          <a:prstGeom prst="rect">
            <a:avLst/>
          </a:prstGeom>
          <a:solidFill>
            <a:srgbClr val="EAF0FF"/>
          </a:solidFill>
          <a:ln>
            <a:solidFill>
              <a:srgbClr val="B5C6F2"/>
            </a:solidFill>
          </a:ln>
        </p:spPr>
        <p:txBody>
          <a:bodyPr wrap="square"/>
          <a:lstStyle/>
          <a:p>
            <a:pPr algn="c"/>
            <a:r>
              <a:rPr lang="en-US" sz="2400" b="true">
                <a:solidFill>
                  <a:srgbClr val="1D2B27"/>
                </a:solidFill>
                <a:latin typeface="Arial"/>
              </a:rPr>
              <a:t>Track B</a:t>
            </a:r>
            <a:endParaRPr lang="en-US" sz="2400"/>
          </a:p>
          <a:p>
            <a:pPr algn="c"/>
            <a:r>
              <a:rPr lang="en-US" sz="2400" b="true">
                <a:solidFill>
                  <a:srgbClr val="1D2B27"/>
                </a:solidFill>
                <a:latin typeface="Arial"/>
              </a:rPr>
              <a:t>0.81 → #1</a:t>
            </a:r>
            <a:endParaRPr lang="en-US" sz="2400"/>
          </a:p>
        </p:txBody>
      </p:sp>
      <p:sp>
        <p:nvSpPr>
          <p:cNvPr id="64" name="TableHeader"/>
          <p:cNvSpPr/>
          <p:nvPr/>
        </p:nvSpPr>
        <p:spPr>
          <a:xfrm>
            <a:off x="1143000" y="4857750"/>
            <a:ext cx="9667875" cy="400050"/>
          </a:xfrm>
          <a:prstGeom prst="rect">
            <a:avLst/>
          </a:prstGeom>
          <a:solidFill>
            <a:srgbClr val="1F6F5B"/>
          </a:solidFill>
          <a:ln>
            <a:solidFill>
              <a:srgbClr val="1F6F5B"/>
            </a:solidFill>
          </a:ln>
        </p:spPr>
        <p:txBody>
          <a:bodyPr wrap="square"/>
          <a:lstStyle/>
          <a:p>
            <a:pPr algn="l"/>
            <a:r>
              <a:rPr lang="en-US" sz="1500" b="true">
                <a:solidFill>
                  <a:srgbClr val="FFFFFF"/>
                </a:solidFill>
                <a:latin typeface="Arial"/>
              </a:rPr>
              <a:t>CANDIDATE                         CONTENT                 COLLABORATIVE                 HYBRID</a:t>
            </a:r>
            <a:endParaRPr lang="en-US" sz="1500"/>
          </a:p>
        </p:txBody>
      </p:sp>
      <p:sp>
        <p:nvSpPr>
          <p:cNvPr id="65" name="TableRows"/>
          <p:cNvSpPr/>
          <p:nvPr/>
        </p:nvSpPr>
        <p:spPr>
          <a:xfrm>
            <a:off x="1143000" y="5257800"/>
            <a:ext cx="9667875" cy="742950"/>
          </a:xfrm>
          <a:prstGeom prst="rect">
            <a:avLst/>
          </a:prstGeom>
          <a:solidFill>
            <a:srgbClr val="FFFFFF"/>
          </a:solidFill>
          <a:ln>
            <a:solidFill>
              <a:srgbClr val="D8E5DF"/>
            </a:solidFill>
          </a:ln>
        </p:spPr>
        <p:txBody>
          <a:bodyPr wrap="square"/>
          <a:lstStyle/>
          <a:p>
            <a:pPr algn="l"/>
            <a:r>
              <a:rPr lang="en-US" sz="1600" b="false">
                <a:solidFill>
                  <a:srgbClr val="1D2B27"/>
                </a:solidFill>
                <a:latin typeface="Arial"/>
              </a:rPr>
              <a:t>Track B: indie folk                 0.75                         0.85                         0.81</a:t>
            </a:r>
            <a:endParaRPr lang="en-US" sz="1600"/>
          </a:p>
          <a:p>
            <a:pPr algn="l"/>
            <a:r>
              <a:rPr lang="en-US" sz="1600" b="false">
                <a:solidFill>
                  <a:srgbClr val="1D2B27"/>
                </a:solidFill>
                <a:latin typeface="Arial"/>
              </a:rPr>
              <a:t>Track A: acoustic pop             0.90                         0.60                         0.72</a:t>
            </a:r>
            <a:endParaRPr lang="en-US" sz="1600"/>
          </a:p>
          <a:p>
            <a:pPr algn="l"/>
            <a:r>
              <a:rPr lang="en-US" sz="1600" b="false">
                <a:solidFill>
                  <a:srgbClr val="1D2B27"/>
                </a:solidFill>
                <a:latin typeface="Arial"/>
              </a:rPr>
              <a:t>Track C: electronic dance       0.30                         0.70                         0.54</a:t>
            </a:r>
            <a:endParaRPr lang="en-US"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</a:xfrm>
      </p:grpSpPr>
      <p:sp>
        <p:nvSpPr>
          <p:cNvPr id="70" name="Kicker"/>
          <p:cNvSpPr/>
          <p:nvPr/>
        </p:nvSpPr>
        <p:spPr>
          <a:xfrm>
            <a:off x="685800" y="381000"/>
            <a:ext cx="4381500" cy="2667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300" b="true">
                <a:solidFill>
                  <a:srgbClr val="1F6F5B"/>
                </a:solidFill>
                <a:latin typeface="Arial"/>
              </a:rPr>
              <a:t>04  PRODUCT</a:t>
            </a:r>
            <a:endParaRPr lang="en-US" sz="1300"/>
          </a:p>
        </p:txBody>
      </p:sp>
      <p:sp>
        <p:nvSpPr>
          <p:cNvPr id="71" name="Title"/>
          <p:cNvSpPr/>
          <p:nvPr/>
        </p:nvSpPr>
        <p:spPr>
          <a:xfrm>
            <a:off x="685800" y="742950"/>
            <a:ext cx="10668000" cy="6477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3400" b="true">
                <a:solidFill>
                  <a:srgbClr val="1D2B27"/>
                </a:solidFill>
                <a:latin typeface="Arial"/>
              </a:rPr>
              <a:t>What the Streamlit project delivers</a:t>
            </a:r>
            <a:endParaRPr lang="en-US" sz="3400"/>
          </a:p>
        </p:txBody>
      </p:sp>
      <p:sp>
        <p:nvSpPr>
          <p:cNvPr id="72" name="Rule"/>
          <p:cNvSpPr/>
          <p:nvPr/>
        </p:nvSpPr>
        <p:spPr>
          <a:xfrm>
            <a:off x="685800" y="1524000"/>
            <a:ext cx="10820400" cy="28575"/>
          </a:xfrm>
          <a:prstGeom prst="rect">
            <a:avLst/>
          </a:prstGeom>
          <a:solidFill>
            <a:srgbClr val="1F6F5B"/>
          </a:solidFill>
          <a:ln>
            <a:solidFill>
              <a:srgbClr val="1F6F5B"/>
            </a:solidFill>
          </a:ln>
        </p:spPr>
      </p:sp>
      <p:sp>
        <p:nvSpPr>
          <p:cNvPr id="80" name="Flow1"/>
          <p:cNvSpPr/>
          <p:nvPr/>
        </p:nvSpPr>
        <p:spPr>
          <a:xfrm>
            <a:off x="685800" y="2190750"/>
            <a:ext cx="2428875" cy="1200150"/>
          </a:xfrm>
          <a:prstGeom prst="rect">
            <a:avLst/>
          </a:prstGeom>
          <a:solidFill>
            <a:srgbClr val="1F6F5B"/>
          </a:solidFill>
          <a:ln>
            <a:solidFill>
              <a:srgbClr val="1F6F5B"/>
            </a:solidFill>
          </a:ln>
        </p:spPr>
        <p:txBody>
          <a:bodyPr wrap="square"/>
          <a:lstStyle/>
          <a:p>
            <a:pPr algn="c"/>
            <a:r>
              <a:rPr lang="en-US" sz="2200" b="true">
                <a:solidFill>
                  <a:srgbClr val="FFFFFF"/>
                </a:solidFill>
                <a:latin typeface="Arial"/>
              </a:rPr>
              <a:t>1</a:t>
            </a:r>
            <a:endParaRPr lang="en-US" sz="2200"/>
          </a:p>
          <a:p>
            <a:pPr algn="c"/>
            <a:r>
              <a:rPr lang="en-US" sz="2200" b="true">
                <a:solidFill>
                  <a:srgbClr val="FFFFFF"/>
                </a:solidFill>
                <a:latin typeface="Arial"/>
              </a:rPr>
              <a:t>Choose α and a genre</a:t>
            </a:r>
            <a:endParaRPr lang="en-US" sz="2200"/>
          </a:p>
        </p:txBody>
      </p:sp>
      <p:sp>
        <p:nvSpPr>
          <p:cNvPr id="81" name="Arrow1"/>
          <p:cNvSpPr/>
          <p:nvPr/>
        </p:nvSpPr>
        <p:spPr>
          <a:xfrm>
            <a:off x="3333750" y="2524125"/>
            <a:ext cx="523875" cy="523875"/>
          </a:xfrm>
          <a:prstGeom prst="rect">
            <a:avLst/>
          </a:prstGeom>
          <a:solidFill>
            <a:srgbClr val="F2C14E"/>
          </a:solidFill>
          <a:ln>
            <a:solidFill>
              <a:srgbClr val="F2C14E"/>
            </a:solidFill>
          </a:ln>
        </p:spPr>
        <p:txBody>
          <a:bodyPr wrap="square"/>
          <a:lstStyle/>
          <a:p>
            <a:pPr algn="c"/>
            <a:r>
              <a:rPr lang="en-US" sz="3200" b="true">
                <a:solidFill>
                  <a:srgbClr val="1D2B27"/>
                </a:solidFill>
                <a:latin typeface="Arial"/>
              </a:rPr>
              <a:t>→</a:t>
            </a:r>
            <a:endParaRPr lang="en-US" sz="3200"/>
          </a:p>
        </p:txBody>
      </p:sp>
      <p:sp>
        <p:nvSpPr>
          <p:cNvPr id="82" name="Flow2"/>
          <p:cNvSpPr/>
          <p:nvPr/>
        </p:nvSpPr>
        <p:spPr>
          <a:xfrm>
            <a:off x="4095750" y="2190750"/>
            <a:ext cx="2428875" cy="1200150"/>
          </a:xfrm>
          <a:prstGeom prst="rect">
            <a:avLst/>
          </a:prstGeom>
          <a:solidFill>
            <a:srgbClr val="EAF6F0"/>
          </a:solidFill>
          <a:ln>
            <a:solidFill>
              <a:srgbClr val="B9DCCB"/>
            </a:solidFill>
          </a:ln>
        </p:spPr>
        <p:txBody>
          <a:bodyPr wrap="square"/>
          <a:lstStyle/>
          <a:p>
            <a:pPr algn="c"/>
            <a:r>
              <a:rPr lang="en-US" sz="2200" b="true">
                <a:solidFill>
                  <a:srgbClr val="1D2B27"/>
                </a:solidFill>
                <a:latin typeface="Arial"/>
              </a:rPr>
              <a:t>2</a:t>
            </a:r>
            <a:endParaRPr lang="en-US" sz="2200"/>
          </a:p>
          <a:p>
            <a:pPr algn="c"/>
            <a:r>
              <a:rPr lang="en-US" sz="2200" b="true">
                <a:solidFill>
                  <a:srgbClr val="1D2B27"/>
                </a:solidFill>
                <a:latin typeface="Arial"/>
              </a:rPr>
              <a:t>Rank candidate tracks</a:t>
            </a:r>
            <a:endParaRPr lang="en-US" sz="2200"/>
          </a:p>
        </p:txBody>
      </p:sp>
      <p:sp>
        <p:nvSpPr>
          <p:cNvPr id="83" name="Arrow2"/>
          <p:cNvSpPr/>
          <p:nvPr/>
        </p:nvSpPr>
        <p:spPr>
          <a:xfrm>
            <a:off x="6743700" y="2524125"/>
            <a:ext cx="523875" cy="523875"/>
          </a:xfrm>
          <a:prstGeom prst="rect">
            <a:avLst/>
          </a:prstGeom>
          <a:solidFill>
            <a:srgbClr val="F2C14E"/>
          </a:solidFill>
          <a:ln>
            <a:solidFill>
              <a:srgbClr val="F2C14E"/>
            </a:solidFill>
          </a:ln>
        </p:spPr>
        <p:txBody>
          <a:bodyPr wrap="square"/>
          <a:lstStyle/>
          <a:p>
            <a:pPr algn="c"/>
            <a:r>
              <a:rPr lang="en-US" sz="3200" b="true">
                <a:solidFill>
                  <a:srgbClr val="1D2B27"/>
                </a:solidFill>
                <a:latin typeface="Arial"/>
              </a:rPr>
              <a:t>→</a:t>
            </a:r>
            <a:endParaRPr lang="en-US" sz="3200"/>
          </a:p>
        </p:txBody>
      </p:sp>
      <p:sp>
        <p:nvSpPr>
          <p:cNvPr id="84" name="Flow3"/>
          <p:cNvSpPr/>
          <p:nvPr/>
        </p:nvSpPr>
        <p:spPr>
          <a:xfrm>
            <a:off x="7505700" y="2190750"/>
            <a:ext cx="2428875" cy="1200150"/>
          </a:xfrm>
          <a:prstGeom prst="rect">
            <a:avLst/>
          </a:prstGeom>
          <a:solidFill>
            <a:srgbClr val="EAF0FF"/>
          </a:solidFill>
          <a:ln>
            <a:solidFill>
              <a:srgbClr val="B5C6F2"/>
            </a:solidFill>
          </a:ln>
        </p:spPr>
        <p:txBody>
          <a:bodyPr wrap="square"/>
          <a:lstStyle/>
          <a:p>
            <a:pPr algn="c"/>
            <a:r>
              <a:rPr lang="en-US" sz="2200" b="true">
                <a:solidFill>
                  <a:srgbClr val="1D2B27"/>
                </a:solidFill>
                <a:latin typeface="Arial"/>
              </a:rPr>
              <a:t>3</a:t>
            </a:r>
            <a:endParaRPr lang="en-US" sz="2200"/>
          </a:p>
          <a:p>
            <a:pPr algn="c"/>
            <a:r>
              <a:rPr lang="en-US" sz="2200" b="true">
                <a:solidFill>
                  <a:srgbClr val="1D2B27"/>
                </a:solidFill>
                <a:latin typeface="Arial"/>
              </a:rPr>
              <a:t>Inspect why each appears</a:t>
            </a:r>
            <a:endParaRPr lang="en-US" sz="2200"/>
          </a:p>
        </p:txBody>
      </p:sp>
      <p:sp>
        <p:nvSpPr>
          <p:cNvPr id="85" name="Controls"/>
          <p:cNvSpPr/>
          <p:nvPr/>
        </p:nvSpPr>
        <p:spPr>
          <a:xfrm>
            <a:off x="685800" y="4000500"/>
            <a:ext cx="4953000" cy="1619250"/>
          </a:xfrm>
          <a:prstGeom prst="rect">
            <a:avLst/>
          </a:prstGeom>
          <a:solidFill>
            <a:srgbClr val="FFFFFF"/>
          </a:solidFill>
          <a:ln>
            <a:solidFill>
              <a:srgbClr val="D8E5DF"/>
            </a:solidFill>
          </a:ln>
        </p:spPr>
        <p:txBody>
          <a:bodyPr wrap="square"/>
          <a:lstStyle/>
          <a:p>
            <a:pPr algn="l"/>
            <a:r>
              <a:rPr lang="en-US" sz="2000" b="true">
                <a:solidFill>
                  <a:srgbClr val="1D2B27"/>
                </a:solidFill>
                <a:latin typeface="Arial"/>
              </a:rPr>
              <a:t>Interactive controls</a:t>
            </a:r>
            <a:endParaRPr lang="en-US" sz="2000"/>
          </a:p>
          <a:p>
            <a:pPr algn="l"/>
            <a:r>
              <a:rPr lang="en-US" sz="2000" b="true">
                <a:solidFill>
                  <a:srgbClr val="1D2B27"/>
                </a:solidFill>
                <a:latin typeface="Arial"/>
              </a:rPr>
              <a:t/>
            </a:r>
            <a:endParaRPr lang="en-US" sz="2000"/>
          </a:p>
          <a:p>
            <a:pPr algn="l"/>
            <a:r>
              <a:rPr lang="en-US" sz="2000" b="true">
                <a:solidFill>
                  <a:srgbClr val="1D2B27"/>
                </a:solidFill>
                <a:latin typeface="Arial"/>
              </a:rPr>
              <a:t>• content weight α</a:t>
            </a:r>
            <a:endParaRPr lang="en-US" sz="2000"/>
          </a:p>
          <a:p>
            <a:pPr algn="l"/>
            <a:r>
              <a:rPr lang="en-US" sz="2000" b="true">
                <a:solidFill>
                  <a:srgbClr val="1D2B27"/>
                </a:solidFill>
                <a:latin typeface="Arial"/>
              </a:rPr>
              <a:t>• genre filter</a:t>
            </a:r>
            <a:endParaRPr lang="en-US" sz="2000"/>
          </a:p>
          <a:p>
            <a:pPr algn="l"/>
            <a:r>
              <a:rPr lang="en-US" sz="2000" b="true">
                <a:solidFill>
                  <a:srgbClr val="1D2B27"/>
                </a:solidFill>
                <a:latin typeface="Arial"/>
              </a:rPr>
              <a:t>• recommendation count</a:t>
            </a:r>
            <a:endParaRPr lang="en-US" sz="2000"/>
          </a:p>
        </p:txBody>
      </p:sp>
      <p:sp>
        <p:nvSpPr>
          <p:cNvPr id="86" name="Guardrails"/>
          <p:cNvSpPr/>
          <p:nvPr/>
        </p:nvSpPr>
        <p:spPr>
          <a:xfrm>
            <a:off x="6096000" y="4000500"/>
            <a:ext cx="5410200" cy="1619250"/>
          </a:xfrm>
          <a:prstGeom prst="rect">
            <a:avLst/>
          </a:prstGeom>
          <a:solidFill>
            <a:srgbClr val="FFF7E1"/>
          </a:solidFill>
          <a:ln>
            <a:solidFill>
              <a:srgbClr val="F2D68C"/>
            </a:solidFill>
          </a:ln>
        </p:spPr>
        <p:txBody>
          <a:bodyPr wrap="square"/>
          <a:lstStyle/>
          <a:p>
            <a:pPr algn="l"/>
            <a:r>
              <a:rPr lang="en-US" sz="2000" b="true">
                <a:solidFill>
                  <a:srgbClr val="1D2B27"/>
                </a:solidFill>
                <a:latin typeface="Arial"/>
              </a:rPr>
              <a:t>Transparent scope</a:t>
            </a:r>
            <a:endParaRPr lang="en-US" sz="2000"/>
          </a:p>
          <a:p>
            <a:pPr algn="l"/>
            <a:r>
              <a:rPr lang="en-US" sz="2000" b="true">
                <a:solidFill>
                  <a:srgbClr val="1D2B27"/>
                </a:solidFill>
                <a:latin typeface="Arial"/>
              </a:rPr>
              <a:t/>
            </a:r>
            <a:endParaRPr lang="en-US" sz="2000"/>
          </a:p>
          <a:p>
            <a:pPr algn="l"/>
            <a:r>
              <a:rPr lang="en-US" sz="2000" b="true">
                <a:solidFill>
                  <a:srgbClr val="1D2B27"/>
                </a:solidFill>
                <a:latin typeface="Arial"/>
              </a:rPr>
              <a:t>Illustrative catalogue only. No Spotify scraping, private-algorithm claims, or API key required.</a:t>
            </a:r>
            <a:endParaRPr lang="en-US"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</a:xfrm>
      </p:grpSpPr>
      <p:sp>
        <p:nvSpPr>
          <p:cNvPr id="90" name="Kicker"/>
          <p:cNvSpPr/>
          <p:nvPr/>
        </p:nvSpPr>
        <p:spPr>
          <a:xfrm>
            <a:off x="685800" y="381000"/>
            <a:ext cx="4381500" cy="2667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300" b="true">
                <a:solidFill>
                  <a:srgbClr val="1F6F5B"/>
                </a:solidFill>
                <a:latin typeface="Arial"/>
              </a:rPr>
              <a:t>05  FINDINGS</a:t>
            </a:r>
            <a:endParaRPr lang="en-US" sz="1300"/>
          </a:p>
        </p:txBody>
      </p:sp>
      <p:sp>
        <p:nvSpPr>
          <p:cNvPr id="91" name="Title"/>
          <p:cNvSpPr/>
          <p:nvPr/>
        </p:nvSpPr>
        <p:spPr>
          <a:xfrm>
            <a:off x="685800" y="742950"/>
            <a:ext cx="10668000" cy="6477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3400" b="true">
                <a:solidFill>
                  <a:srgbClr val="1D2B27"/>
                </a:solidFill>
                <a:latin typeface="Arial"/>
              </a:rPr>
              <a:t>Evaluation and responsible use</a:t>
            </a:r>
            <a:endParaRPr lang="en-US" sz="3400"/>
          </a:p>
        </p:txBody>
      </p:sp>
      <p:sp>
        <p:nvSpPr>
          <p:cNvPr id="92" name="Rule"/>
          <p:cNvSpPr/>
          <p:nvPr/>
        </p:nvSpPr>
        <p:spPr>
          <a:xfrm>
            <a:off x="685800" y="1524000"/>
            <a:ext cx="10820400" cy="28575"/>
          </a:xfrm>
          <a:prstGeom prst="rect">
            <a:avLst/>
          </a:prstGeom>
          <a:solidFill>
            <a:srgbClr val="1F6F5B"/>
          </a:solidFill>
          <a:ln>
            <a:solidFill>
              <a:srgbClr val="1F6F5B"/>
            </a:solidFill>
          </a:ln>
        </p:spPr>
      </p:sp>
      <p:sp>
        <p:nvSpPr>
          <p:cNvPr id="100" name="Metrics"/>
          <p:cNvSpPr/>
          <p:nvPr/>
        </p:nvSpPr>
        <p:spPr>
          <a:xfrm>
            <a:off x="685800" y="2095500"/>
            <a:ext cx="4953000" cy="2571750"/>
          </a:xfrm>
          <a:prstGeom prst="rect">
            <a:avLst/>
          </a:prstGeom>
          <a:solidFill>
            <a:srgbClr val="EAF6F0"/>
          </a:solidFill>
          <a:ln>
            <a:solidFill>
              <a:srgbClr val="B9DCCB"/>
            </a:solidFill>
          </a:ln>
        </p:spPr>
        <p:txBody>
          <a:bodyPr wrap="square"/>
          <a:lstStyle/>
          <a:p>
            <a:pPr algn="l"/>
            <a:r>
              <a:rPr lang="en-US" sz="2300" b="true">
                <a:solidFill>
                  <a:srgbClr val="1D2B27"/>
                </a:solidFill>
                <a:latin typeface="Arial"/>
              </a:rPr>
              <a:t>Precision@K</a:t>
            </a:r>
            <a:endParaRPr lang="en-US" sz="2300"/>
          </a:p>
          <a:p>
            <a:pPr algn="l"/>
            <a:r>
              <a:rPr lang="en-US" sz="2300" b="true">
                <a:solidFill>
                  <a:srgbClr val="1D2B27"/>
                </a:solidFill>
                <a:latin typeface="Arial"/>
              </a:rPr>
              <a:t>Relevant recommendations in top K ÷ K</a:t>
            </a:r>
            <a:endParaRPr lang="en-US" sz="2300"/>
          </a:p>
          <a:p>
            <a:pPr algn="l"/>
            <a:r>
              <a:rPr lang="en-US" sz="2300" b="true">
                <a:solidFill>
                  <a:srgbClr val="1D2B27"/>
                </a:solidFill>
                <a:latin typeface="Arial"/>
              </a:rPr>
              <a:t/>
            </a:r>
            <a:endParaRPr lang="en-US" sz="2300"/>
          </a:p>
          <a:p>
            <a:pPr algn="l"/>
            <a:r>
              <a:rPr lang="en-US" sz="2300" b="true">
                <a:solidFill>
                  <a:srgbClr val="1D2B27"/>
                </a:solidFill>
                <a:latin typeface="Arial"/>
              </a:rPr>
              <a:t>Recall@K</a:t>
            </a:r>
            <a:endParaRPr lang="en-US" sz="2300"/>
          </a:p>
          <a:p>
            <a:pPr algn="l"/>
            <a:r>
              <a:rPr lang="en-US" sz="2300" b="true">
                <a:solidFill>
                  <a:srgbClr val="1D2B27"/>
                </a:solidFill>
                <a:latin typeface="Arial"/>
              </a:rPr>
              <a:t>Relevant recommendations in top K ÷ all relevant test items</a:t>
            </a:r>
            <a:endParaRPr lang="en-US" sz="2300"/>
          </a:p>
        </p:txBody>
      </p:sp>
      <p:sp>
        <p:nvSpPr>
          <p:cNvPr id="101" name="Limits"/>
          <p:cNvSpPr/>
          <p:nvPr/>
        </p:nvSpPr>
        <p:spPr>
          <a:xfrm>
            <a:off x="6096000" y="2095500"/>
            <a:ext cx="5410200" cy="2571750"/>
          </a:xfrm>
          <a:prstGeom prst="rect">
            <a:avLst/>
          </a:prstGeom>
          <a:solidFill>
            <a:srgbClr val="FFFFFF"/>
          </a:solidFill>
          <a:ln>
            <a:solidFill>
              <a:srgbClr val="D8E5DF"/>
            </a:solidFill>
          </a:ln>
        </p:spPr>
        <p:txBody>
          <a:bodyPr wrap="square"/>
          <a:lstStyle/>
          <a:p>
            <a:pPr algn="l"/>
            <a:r>
              <a:rPr lang="en-US" sz="2100" b="true">
                <a:solidFill>
                  <a:srgbClr val="1D2B27"/>
                </a:solidFill>
                <a:latin typeface="Arial"/>
              </a:rPr>
              <a:t>Metrics are not the whole product</a:t>
            </a:r>
            <a:endParaRPr lang="en-US" sz="2100"/>
          </a:p>
          <a:p>
            <a:pPr algn="l"/>
            <a:r>
              <a:rPr lang="en-US" sz="2100" b="true">
                <a:solidFill>
                  <a:srgbClr val="1D2B27"/>
                </a:solidFill>
                <a:latin typeface="Arial"/>
              </a:rPr>
              <a:t/>
            </a:r>
            <a:endParaRPr lang="en-US" sz="2100"/>
          </a:p>
          <a:p>
            <a:pPr algn="l"/>
            <a:r>
              <a:rPr lang="en-US" sz="2100" b="true">
                <a:solidFill>
                  <a:srgbClr val="1D2B27"/>
                </a:solidFill>
                <a:latin typeface="Arial"/>
              </a:rPr>
              <a:t>• offline splits do not equal live satisfaction</a:t>
            </a:r>
            <a:endParaRPr lang="en-US" sz="2100"/>
          </a:p>
          <a:p>
            <a:pPr algn="l"/>
            <a:r>
              <a:rPr lang="en-US" sz="2100" b="true">
                <a:solidFill>
                  <a:srgbClr val="1D2B27"/>
                </a:solidFill>
                <a:latin typeface="Arial"/>
              </a:rPr>
              <a:t>• unplayed does not necessarily mean disliked</a:t>
            </a:r>
            <a:endParaRPr lang="en-US" sz="2100"/>
          </a:p>
          <a:p>
            <a:pPr algn="l"/>
            <a:r>
              <a:rPr lang="en-US" sz="2100" b="true">
                <a:solidFill>
                  <a:srgbClr val="1D2B27"/>
                </a:solidFill>
                <a:latin typeface="Arial"/>
              </a:rPr>
              <a:t>• diversity, novelty, privacy, and control matter</a:t>
            </a:r>
            <a:endParaRPr lang="en-US" sz="2100"/>
          </a:p>
          <a:p>
            <a:pPr algn="l"/>
            <a:r>
              <a:rPr lang="en-US" sz="2100" b="true">
                <a:solidFill>
                  <a:srgbClr val="1D2B27"/>
                </a:solidFill>
                <a:latin typeface="Arial"/>
              </a:rPr>
              <a:t>• changing preferences need recent signals</a:t>
            </a:r>
            <a:endParaRPr lang="en-US" sz="2100"/>
          </a:p>
        </p:txBody>
      </p:sp>
      <p:sp>
        <p:nvSpPr>
          <p:cNvPr id="102" name="Conclusion"/>
          <p:cNvSpPr/>
          <p:nvPr/>
        </p:nvSpPr>
        <p:spPr>
          <a:xfrm>
            <a:off x="685800" y="5334000"/>
            <a:ext cx="10820400" cy="533400"/>
          </a:xfrm>
          <a:prstGeom prst="rect">
            <a:avLst/>
          </a:prstGeom>
          <a:solidFill>
            <a:srgbClr val="1D2B27"/>
          </a:solidFill>
          <a:ln>
            <a:solidFill>
              <a:srgbClr val="1D2B27"/>
            </a:solidFill>
          </a:ln>
        </p:spPr>
        <p:txBody>
          <a:bodyPr wrap="square"/>
          <a:lstStyle/>
          <a:p>
            <a:pPr algn="c"/>
            <a:r>
              <a:rPr lang="en-US" sz="2100" b="true">
                <a:solidFill>
                  <a:srgbClr val="FFFFFF"/>
                </a:solidFill>
                <a:latin typeface="Arial"/>
              </a:rPr>
              <a:t>A useful recommender balances relevance with discovery, diversity, timeliness, transparency, and user control.</a:t>
            </a:r>
            <a:endParaRPr lang="en-US" sz="2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usic Recommender">
  <a:themeElements>
    <a:clrScheme name="Custom">
      <a:dk1>
        <a:srgbClr val="1D2B27"/>
      </a:dk1>
      <a:lt1>
        <a:srgbClr val="FFFFFF"/>
      </a:lt1>
      <a:dk2>
        <a:srgbClr val="1F6F5B"/>
      </a:dk2>
      <a:lt2>
        <a:srgbClr val="FAF9F6"/>
      </a:lt2>
      <a:accent1>
        <a:srgbClr val="1F6F5B"/>
      </a:accent1>
      <a:accent2>
        <a:srgbClr val="F2C14E"/>
      </a:accent2>
      <a:accent3>
        <a:srgbClr val="EAF0FF"/>
      </a:accent3>
      <a:accent4>
        <a:srgbClr val="EEF7F2"/>
      </a:accent4>
      <a:accent5>
        <a:srgbClr val="D8E5DF"/>
      </a:accent5>
      <a:accent6>
        <a:srgbClr val="B9DCCB"/>
      </a:accent6>
      <a:hlink>
        <a:srgbClr val="0000FF"/>
      </a:hlink>
      <a:folHlink>
        <a:srgbClr val="800080"/>
      </a:folHlink>
    </a:clrScheme>
    <a:fontScheme name="Arial">
      <a:majorFont>
        <a:latin typeface="Arial"/>
      </a:majorFont>
      <a:minorFont>
        <a:latin typeface="Arial"/>
      </a:minorFont>
    </a:fontScheme>
    <a:fmtScheme name="Plain">
      <a:fillStyleLst/>
      <a:lnStyleLst/>
      <a:effectStyleLst/>
      <a:bgFillStyleLst/>
    </a:fmtScheme>
  </a:themeElements>
</a:theme>
</file>